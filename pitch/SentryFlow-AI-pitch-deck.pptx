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7809c07444182" /><Relationship Type="http://schemas.openxmlformats.org/officeDocument/2006/relationships/extended-properties" Target="/docProps/app.xml" Id="Red334fc6c4814c60" /><Relationship Type="http://schemas.openxmlformats.org/officeDocument/2006/relationships/officeDocument" Target="/ppt/presentation.xml" Id="Rca20d1045e76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9e5a361a241d1"/>
  </p:sldMasterIdLst>
  <p:notesMasterIdLst>
    <p:notesMasterId xmlns:r="http://schemas.openxmlformats.org/officeDocument/2006/relationships" r:id="R7b9b894f513045e5"/>
  </p:notesMasterIdLst>
  <p:sldIdLst>
    <p:sldId xmlns:r="http://schemas.openxmlformats.org/officeDocument/2006/relationships" id="256" r:id="R226e2b6766104d46"/>
    <p:sldId xmlns:r="http://schemas.openxmlformats.org/officeDocument/2006/relationships" id="257" r:id="R0ef17cceb8d94182"/>
    <p:sldId xmlns:r="http://schemas.openxmlformats.org/officeDocument/2006/relationships" id="258" r:id="Ra6df187d046f4b8a"/>
    <p:sldId xmlns:r="http://schemas.openxmlformats.org/officeDocument/2006/relationships" id="259" r:id="Rc1fa5def7a5b44e2"/>
    <p:sldId xmlns:r="http://schemas.openxmlformats.org/officeDocument/2006/relationships" id="260" r:id="R8dcda57ee503472f"/>
    <p:sldId xmlns:r="http://schemas.openxmlformats.org/officeDocument/2006/relationships" id="261" r:id="Rb5722215b5d4401c"/>
    <p:sldId xmlns:r="http://schemas.openxmlformats.org/officeDocument/2006/relationships" id="262" r:id="Rdb8060f0722e43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95c44868041a3" /><Relationship Type="http://schemas.openxmlformats.org/officeDocument/2006/relationships/slideMaster" Target="/ppt/slideMasters/slideMaster1.xml" Id="R7439e5a361a241d1" /><Relationship Type="http://schemas.openxmlformats.org/officeDocument/2006/relationships/notesMaster" Target="/ppt/notesMasters/notesMaster1.xml" Id="R7b9b894f513045e5" /><Relationship Type="http://schemas.openxmlformats.org/officeDocument/2006/relationships/presProps" Target="/ppt/presProps.xml" Id="R8d8ca62ec1684173" /><Relationship Type="http://schemas.openxmlformats.org/officeDocument/2006/relationships/tableStyles" Target="/ppt/tableStyles.xml" Id="Rf6cf29359f0c41a3" /><Relationship Type="http://schemas.openxmlformats.org/officeDocument/2006/relationships/slide" Target="/ppt/slides/slide1.xml" Id="R226e2b6766104d46" /><Relationship Type="http://schemas.openxmlformats.org/officeDocument/2006/relationships/slide" Target="/ppt/slides/slide2.xml" Id="R0ef17cceb8d94182" /><Relationship Type="http://schemas.openxmlformats.org/officeDocument/2006/relationships/slide" Target="/ppt/slides/slide3.xml" Id="Ra6df187d046f4b8a" /><Relationship Type="http://schemas.openxmlformats.org/officeDocument/2006/relationships/slide" Target="/ppt/slides/slide4.xml" Id="Rc1fa5def7a5b44e2" /><Relationship Type="http://schemas.openxmlformats.org/officeDocument/2006/relationships/slide" Target="/ppt/slides/slide5.xml" Id="R8dcda57ee503472f" /><Relationship Type="http://schemas.openxmlformats.org/officeDocument/2006/relationships/slide" Target="/ppt/slides/slide6.xml" Id="Rb5722215b5d4401c" /><Relationship Type="http://schemas.openxmlformats.org/officeDocument/2006/relationships/slide" Target="/ppt/slides/slide7.xml" Id="Rdb8060f0722e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6f5f7db704f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51224635945cf" /><Relationship Type="http://schemas.openxmlformats.org/officeDocument/2006/relationships/notesMaster" Target="/ppt/notesMasters/notesMaster1.xml" Id="R04f95d6a21e4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196d98762c418d" /><Relationship Type="http://schemas.openxmlformats.org/officeDocument/2006/relationships/notesMaster" Target="/ppt/notesMasters/notesMaster1.xml" Id="R2ee0d0fa9d95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9a8d783e94ea3" /><Relationship Type="http://schemas.openxmlformats.org/officeDocument/2006/relationships/notesMaster" Target="/ppt/notesMasters/notesMaster1.xml" Id="R3a2b2bf0c329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583bce4254b5f" /><Relationship Type="http://schemas.openxmlformats.org/officeDocument/2006/relationships/notesMaster" Target="/ppt/notesMasters/notesMaster1.xml" Id="Rfa49bb7c4f664e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8d856a75c4fc7" /><Relationship Type="http://schemas.openxmlformats.org/officeDocument/2006/relationships/notesMaster" Target="/ppt/notesMasters/notesMaster1.xml" Id="Rf1c381a38af2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998ddb3a964737" /><Relationship Type="http://schemas.openxmlformats.org/officeDocument/2006/relationships/notesMaster" Target="/ppt/notesMasters/notesMaster1.xml" Id="Rda989463f9c044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f04965b4c443e" /><Relationship Type="http://schemas.openxmlformats.org/officeDocument/2006/relationships/notesMaster" Target="/ppt/notesMasters/notesMaster1.xml" Id="R0e95e9a47c55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4e0d5e0d2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4bebc9263c4916" /><Relationship Type="http://schemas.openxmlformats.org/officeDocument/2006/relationships/slideLayout" Target="/ppt/slideLayouts/slideLayout1.xml" Id="R3041e180a1e84a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41e180a1e84a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9645476cd4e4b" /><Relationship Type="http://schemas.openxmlformats.org/officeDocument/2006/relationships/notesSlide" Target="/ppt/notesSlides/notesSlide1.xml" Id="R890109446ecd45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11bf075a64a07" /><Relationship Type="http://schemas.openxmlformats.org/officeDocument/2006/relationships/notesSlide" Target="/ppt/notesSlides/notesSlide2.xml" Id="Rd2a5d7a5715f46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9eb945a34313" /><Relationship Type="http://schemas.openxmlformats.org/officeDocument/2006/relationships/notesSlide" Target="/ppt/notesSlides/notesSlide3.xml" Id="Rce0fc8a713bb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2bd28d8c846e7" /><Relationship Type="http://schemas.openxmlformats.org/officeDocument/2006/relationships/notesSlide" Target="/ppt/notesSlides/notesSlide4.xml" Id="R98492cae6e7f45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0fae958784765" /><Relationship Type="http://schemas.openxmlformats.org/officeDocument/2006/relationships/notesSlide" Target="/ppt/notesSlides/notesSlide5.xml" Id="R257b72660522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b1628d6be4ef3" /><Relationship Type="http://schemas.openxmlformats.org/officeDocument/2006/relationships/notesSlide" Target="/ppt/notesSlides/notesSlide6.xml" Id="Ra4a2df1ecff0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893dca6474d67" /><Relationship Type="http://schemas.openxmlformats.org/officeDocument/2006/relationships/notesSlide" Target="/ppt/notesSlides/notesSlide7.xml" Id="Rd2d4067871ef4c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6D653-1939-4BFA-A98A-C98ED24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14"/>
                </a:solidFill>
              </a:defRPr>
            </a:pPr>
            <a:r>
              <a:rPr sz="4500" b="1">
                <a:solidFill>
                  <a:srgbClr val="111814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02632-C943-4B44-9D11-5B71F528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4D"/>
                </a:solidFill>
              </a:defRPr>
            </a:pPr>
            <a:r>
              <a:rPr sz="2250" b="1">
                <a:solidFill>
                  <a:srgbClr val="1F7A4D"/>
                </a:solidFill>
              </a:rPr>
              <a:t>让 eufy 摄像头每天早上完成一次安防交接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7AA00-F927-4F1B-858A-E0E15E1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962"/>
                </a:solidFill>
              </a:defRPr>
            </a:pPr>
            <a:r>
              <a:rPr sz="1650" b="0">
                <a:solidFill>
                  <a:srgbClr val="5E6962"/>
                </a:solidFill>
              </a:rPr>
              <a:t>不是多一个告警，而是把一夜事件变成能执行的交接结果。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694A8-C7C0-43C5-97E3-ABF3B47F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E7F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905A9-B3C1-4425-9141-2D7E9E7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F7A4D"/>
                </a:solidFill>
              </a:defRPr>
            </a:pPr>
            <a:r>
              <a:rPr sz="5700" b="1">
                <a:solidFill>
                  <a:srgbClr val="1F7A4D"/>
                </a:solidFill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8BDFD-68D8-43E1-BAC9-5EA76F4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14"/>
                </a:solidFill>
              </a:defRPr>
            </a:pPr>
            <a:r>
              <a:rPr sz="1875" b="0">
                <a:solidFill>
                  <a:srgbClr val="111814"/>
                </a:solidFill>
              </a:rPr>
              <a:t>条夜间告警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5AB23-5F64-4E89-B1CC-FC27E10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623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5E6962"/>
                </a:solidFill>
              </a:defRPr>
            </a:pPr>
            <a:r>
              <a:rPr sz="4050" b="1">
                <a:solidFill>
                  <a:srgbClr val="5E6962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242D6-F3E4-45B7-B285-FA65A77C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8E6"/>
          </a:solidFill>
          <a:ln xmlns:a="http://schemas.openxmlformats.org/drawingml/2006/main" w="9525">
            <a:solidFill>
              <a:srgbClr val="FDE8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1C499-B896-4DE3-A114-0AC5970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B3261E"/>
                </a:solidFill>
              </a:defRPr>
            </a:pPr>
            <a:r>
              <a:rPr sz="5700" b="1">
                <a:solidFill>
                  <a:srgbClr val="B3261E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07F66-5D86-4BE3-BD28-5BA3C826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29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14"/>
                </a:solidFill>
              </a:defRPr>
            </a:pPr>
            <a:r>
              <a:rPr sz="1875" b="0">
                <a:solidFill>
                  <a:srgbClr val="111814"/>
                </a:solidFill>
              </a:rPr>
              <a:t>个清楚动作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9A7CB-F5F5-4C85-85AE-91FDAA6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"/>
            <a:ext cx="1543050" cy="4381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1B"/>
          </a:solidFill>
          <a:ln xmlns:a="http://schemas.openxmlformats.org/drawingml/2006/main" w="9525">
            <a:solidFill>
              <a:srgbClr val="1721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B2D60-83BE-4070-A348-3AEA21A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954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eufy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Morning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144CF-E122-42A2-AB5C-BE8EDAF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F7F1"/>
                </a:solidFill>
              </a:defRPr>
            </a:pPr>
            <a:r>
              <a:rPr sz="1875" b="1">
                <a:solidFill>
                  <a:srgbClr val="EFF7F1"/>
                </a:solidFill>
              </a:rPr>
              <a:t>44 忽略</a:t>
            </a:r>
          </a:p>
          <a:p xmlns:a="http://schemas.openxmlformats.org/drawingml/2006/main">
            <a:pPr algn="ctr">
              <a:defRPr sz="1875" b="1">
                <a:solidFill>
                  <a:srgbClr val="EFF7F1"/>
                </a:solidFill>
              </a:defRPr>
            </a:pPr>
            <a:r>
              <a:rPr sz="1875" b="1">
                <a:solidFill>
                  <a:srgbClr val="EFF7F1"/>
                </a:solidFill>
              </a:rPr>
              <a:t>2 解释</a:t>
            </a:r>
          </a:p>
          <a:p xmlns:a="http://schemas.openxmlformats.org/drawingml/2006/main">
            <a:pPr algn="ctr">
              <a:defRPr sz="1875" b="1">
                <a:solidFill>
                  <a:srgbClr val="EFF7F1"/>
                </a:solidFill>
              </a:defRPr>
            </a:pPr>
            <a:r>
              <a:rPr sz="1875" b="1">
                <a:solidFill>
                  <a:srgbClr val="EFF7F1"/>
                </a:solidFill>
              </a:rPr>
              <a:t>1 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09F06-F52B-47BD-89CF-FBF040E2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148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7"/>
          </a:solidFill>
          <a:ln xmlns:a="http://schemas.openxmlformats.org/drawingml/2006/main" w="9525">
            <a:solidFill>
              <a:srgbClr val="DFF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61CF9-043E-4F32-AC3B-02ED26F8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62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7A4D"/>
                </a:solidFill>
              </a:defRPr>
            </a:pPr>
            <a:r>
              <a:rPr sz="1125" b="1">
                <a:solidFill>
                  <a:srgbClr val="1F7A4D"/>
                </a:solidFill>
              </a:rPr>
              <a:t>现场可演示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48D9F-BA0C-457E-84D3-5EDE587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2"/>
                </a:solidFill>
              </a:defRPr>
            </a:pPr>
            <a:r>
              <a:rPr sz="1425" b="0">
                <a:solidFill>
                  <a:srgbClr val="5E6962"/>
                </a:solidFill>
              </a:rPr>
              <a:t>Anker / eufy 智能安防黑客松</a:t>
            </a:r>
          </a:p>
        </p:txBody>
      </p:sp>
    </p:spTree>
    <p:extLst>
      <p:ext uri="{BB962C8B-B14F-4D97-AF65-F5344CB8AC3E}">
        <p14:creationId xmlns:p14="http://schemas.microsoft.com/office/powerpoint/2010/main" val="5666467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9EE97-FA75-410C-BBA3-7F5AD9E0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4D"/>
                </a:solidFill>
              </a:defRPr>
            </a:pPr>
            <a:r>
              <a:rPr sz="1275" b="1">
                <a:solidFill>
                  <a:srgbClr val="1F7A4D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1FE4-6A26-41F2-A802-8D179CEF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Anker / eufy 智能安防黑客松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863D0-4394-498A-8D66-A98E722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4"/>
                </a:solidFill>
              </a:defRPr>
            </a:pPr>
            <a:r>
              <a:rPr sz="3150" b="1">
                <a:solidFill>
                  <a:srgbClr val="111814"/>
                </a:solidFill>
              </a:rPr>
              <a:t>用户不缺告警，缺的是告警之后的判断。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13A77-0C08-4C4F-8344-7FBBD134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eufy 摄像头能让用户看见事件，但用户第二天真正要知道的是：哪一件需要先处理。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DAA59-1074-41B5-A288-8DB46CE1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21CFA-56C2-4734-B17B-3939CAEC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3812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9E0E4-84EE-472C-9971-86C6ABE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4"/>
                </a:solidFill>
              </a:defRPr>
            </a:pPr>
            <a:r>
              <a:rPr sz="2025" b="1">
                <a:solidFill>
                  <a:srgbClr val="111814"/>
                </a:solidFill>
              </a:rPr>
              <a:t>告警太碎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3C438-ADFC-4DB1-A4FE-51C1584B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雨水、车灯、昆虫、经过的人都会触发 motion alerts。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5328B-64EA-46A7-ADA6-302D92B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3812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93C9E-A166-4954-A972-63F655D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81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4"/>
                </a:solidFill>
              </a:defRPr>
            </a:pPr>
            <a:r>
              <a:rPr sz="2025" b="1">
                <a:solidFill>
                  <a:srgbClr val="111814"/>
                </a:solidFill>
              </a:rPr>
              <a:t>误报太多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044DC-C2CC-442C-9A15-95B3A4CE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95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用户逐渐不点开，摄像头提醒变成背景噪声。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A7FD1-CE17-44D4-B448-77002664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23812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85002-E7EA-4709-9438-4A2B994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4"/>
                </a:solidFill>
              </a:defRPr>
            </a:pPr>
            <a:r>
              <a:rPr sz="2025" b="1">
                <a:solidFill>
                  <a:srgbClr val="111814"/>
                </a:solidFill>
              </a:rPr>
              <a:t>没人复盘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2EB73-07D3-41F9-9B5F-844B6E8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小店和家庭用户没有专人每天整理夜间事件。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8CB03-C866-46A8-84C6-478DC46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17907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DE8E6"/>
          </a:solidFill>
          <a:ln xmlns:a="http://schemas.openxmlformats.org/drawingml/2006/main" w="9525">
            <a:solidFill>
              <a:srgbClr val="F2C1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FC62D-526F-425A-924D-2943C0D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81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3261E"/>
                </a:solidFill>
              </a:defRPr>
            </a:pPr>
            <a:r>
              <a:rPr sz="2025" b="1">
                <a:solidFill>
                  <a:srgbClr val="B3261E"/>
                </a:solidFill>
              </a:rPr>
              <a:t>真风险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95F13-DAE7-4CF1-A0F1-C7541CAE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261E"/>
                </a:solidFill>
              </a:defRPr>
            </a:pPr>
            <a:r>
              <a:rPr sz="1650" b="1">
                <a:solidFill>
                  <a:srgbClr val="B3261E"/>
                </a:solidFill>
              </a:rPr>
              <a:t>容易被淹没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F4DEB-2D15-44E6-9A83-84ABEAA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4"/>
                </a:solidFill>
              </a:defRPr>
            </a:pPr>
            <a:r>
              <a:rPr sz="2250" b="1">
                <a:solidFill>
                  <a:srgbClr val="111814"/>
                </a:solidFill>
              </a:rPr>
              <a:t>告警越多，用户越可能错过真正重要的一条。</a:t>
            </a:r>
          </a:p>
        </p:txBody>
      </p:sp>
    </p:spTree>
    <p:extLst>
      <p:ext uri="{BB962C8B-B14F-4D97-AF65-F5344CB8AC3E}">
        <p14:creationId xmlns:p14="http://schemas.microsoft.com/office/powerpoint/2010/main" val="15893854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51F7C-EAB2-4566-BA0B-F92D152C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4D"/>
                </a:solidFill>
              </a:defRPr>
            </a:pPr>
            <a:r>
              <a:rPr sz="1275" b="1">
                <a:solidFill>
                  <a:srgbClr val="1F7A4D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9094C-4281-4204-B332-9086D84E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Anker / eufy 智能安防黑客松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3205C-9E2C-4232-81B5-191C2755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4"/>
                </a:solidFill>
              </a:defRPr>
            </a:pPr>
            <a:r>
              <a:rPr sz="3150" b="1">
                <a:solidFill>
                  <a:srgbClr val="111814"/>
                </a:solidFill>
              </a:rPr>
              <a:t>我们做了一个能跑通的晨间交接闭环。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2E1A9-F305-4912-B5BB-06287E8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当前 Demo 已跑通：事件复核、交接摘要、问答、处置状态。它展示的是完整路径，不是单页概念图。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3A332-BE2B-447C-B70D-FF3DEB2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3DB4D-A891-4236-81F9-0105843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74676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3BD4-4418-4B44-8AB9-9E96F659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4"/>
                </a:solidFill>
              </a:defRPr>
            </a:pPr>
            <a:r>
              <a:rPr sz="1650" b="1">
                <a:solidFill>
                  <a:srgbClr val="111814"/>
                </a:solidFill>
              </a:rPr>
              <a:t>SentryFlow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0573B-E2FB-4A08-BA9F-B41C1E5B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eufy Morning Handoff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B26F5-DD33-46DF-9EFD-056BADDD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207A0-96E7-4786-9F30-72F76B34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7A4D"/>
                </a:solidFill>
              </a:defRPr>
            </a:pPr>
            <a:r>
              <a:rPr sz="2700" b="1">
                <a:solidFill>
                  <a:srgbClr val="1F7A4D"/>
                </a:solidFill>
              </a:rPr>
              <a:t>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4FFC2-B63F-46B4-AC30-C897947C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告警已复核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4617D-5D9B-4D07-9CD1-17B7B1E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C770F-0172-4968-B1C0-21B5599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6962"/>
                </a:solidFill>
              </a:defRPr>
            </a:pPr>
            <a:r>
              <a:rPr sz="2700" b="1">
                <a:solidFill>
                  <a:srgbClr val="5E6962"/>
                </a:solidFill>
              </a:rPr>
              <a:t>44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2E46F-5469-4C09-BB9A-5F71663B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386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低风险忽略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3D70D-E366-4EA7-8740-5EF8B69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FDDC1-3043-4609-B53A-249A3608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5E8F"/>
                </a:solidFill>
              </a:defRPr>
            </a:pPr>
            <a:r>
              <a:rPr sz="2700" b="1">
                <a:solidFill>
                  <a:srgbClr val="2F5E8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1F49F-8763-4665-B090-54C6CF8B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386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已解释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3871C-B10F-40D6-ABEA-8BDE285B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8C1F5-A172-4EE8-A474-C0ED0F58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3261E"/>
                </a:solidFill>
              </a:defRPr>
            </a:pPr>
            <a:r>
              <a:rPr sz="2700" b="1">
                <a:solidFill>
                  <a:srgbClr val="B3261E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63E1B-562F-48B8-9DD4-1F365B25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需要处理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330BD-F59E-4FA0-8518-7C3A3EAD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4574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DE8E6"/>
          </a:solidFill>
          <a:ln xmlns:a="http://schemas.openxmlformats.org/drawingml/2006/main" w="9525">
            <a:solidFill>
              <a:srgbClr val="F2C1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0461-57F1-49A9-AD9D-F0E410B0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后门异常停留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27203-E654-456A-AAF3-9207B4FE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2"/>
                </a:solidFill>
              </a:defRPr>
            </a:pPr>
            <a:r>
              <a:rPr sz="1200" b="0">
                <a:solidFill>
                  <a:srgbClr val="5E6962"/>
                </a:solidFill>
              </a:rPr>
              <a:t>02:13，陌生人停留 38 秒。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8DA81-AB39-4C4C-9B83-3EA40043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3714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8872A-2E9B-4781-965F-4C77AE0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24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261E"/>
                </a:solidFill>
              </a:defRPr>
            </a:pPr>
            <a:r>
              <a:rPr sz="1425" b="1">
                <a:solidFill>
                  <a:srgbClr val="B3261E"/>
                </a:solidFill>
              </a:rPr>
              <a:t>建议动作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2D6BC2-0915-48D0-BC4A-ECCA94F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101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2"/>
                </a:solidFill>
              </a:defRPr>
            </a:pPr>
            <a:r>
              <a:rPr sz="1200" b="0">
                <a:solidFill>
                  <a:srgbClr val="5E6962"/>
                </a:solidFill>
              </a:rPr>
              <a:t>开门前检查后门门锁，并请店长复核 02:13 画面。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8DDA1-8684-4A92-A458-C1775AC2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2F60B-B836-4305-AD92-B2D30EB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717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4"/>
                </a:solidFill>
              </a:defRPr>
            </a:pPr>
            <a:r>
              <a:rPr sz="1800" b="1">
                <a:solidFill>
                  <a:srgbClr val="111814"/>
                </a:solidFill>
              </a:rPr>
              <a:t>播放昨晚事件流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3C663-DFED-41D4-B4C5-27BAF42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FEA1C-F945-4751-9DA0-F419DCD0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956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4"/>
                </a:solidFill>
              </a:defRPr>
            </a:pPr>
            <a:r>
              <a:rPr sz="1800" b="1">
                <a:solidFill>
                  <a:srgbClr val="111814"/>
                </a:solidFill>
              </a:rPr>
              <a:t>生成晨间摘要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5F74B-0AE1-4983-922F-83EC30A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3CDF8-E597-4E20-8C4E-4E3515F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9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4"/>
                </a:solidFill>
              </a:defRPr>
            </a:pPr>
            <a:r>
              <a:rPr sz="1800" b="1">
                <a:solidFill>
                  <a:srgbClr val="111814"/>
                </a:solidFill>
              </a:rPr>
              <a:t>询问今天先处理哪里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0761F1-344C-4FF4-8846-65D83B85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14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CA69DE-8967-4D2F-BD40-7193E21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434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4"/>
                </a:solidFill>
              </a:defRPr>
            </a:pPr>
            <a:r>
              <a:rPr sz="1800" b="1">
                <a:solidFill>
                  <a:srgbClr val="111814"/>
                </a:solidFill>
              </a:rPr>
              <a:t>点击通知店长复核</a:t>
            </a:r>
          </a:p>
        </p:txBody>
      </p:sp>
    </p:spTree>
    <p:extLst>
      <p:ext uri="{BB962C8B-B14F-4D97-AF65-F5344CB8AC3E}">
        <p14:creationId xmlns:p14="http://schemas.microsoft.com/office/powerpoint/2010/main" val="4862432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8847E-CA9B-473D-8BB7-0786761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4D"/>
                </a:solidFill>
              </a:defRPr>
            </a:pPr>
            <a:r>
              <a:rPr sz="1275" b="1">
                <a:solidFill>
                  <a:srgbClr val="1F7A4D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622B8-493F-4267-8996-B959594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Anker / eufy 智能安防黑客松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DA190-F80F-435D-BAFF-70602DFA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4"/>
                </a:solidFill>
              </a:defRPr>
            </a:pPr>
            <a:r>
              <a:rPr sz="3150" b="1">
                <a:solidFill>
                  <a:srgbClr val="111814"/>
                </a:solidFill>
              </a:rPr>
              <a:t>AI 不只是识别人，而是判断这件事是否值得交接。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3F1B3-C408-4813-A464-43C2D04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同样是“有人”，员工返回取货和陌生人在后门停留，不应该得到同一个结果。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E0DE1-F1D1-42B8-9813-74297FE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1D273-5DAB-4776-8DB2-618C0155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E7F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BEB07-4EBA-47E0-98F9-BC1A6A9E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7A4D"/>
                </a:solidFill>
              </a:defRPr>
            </a:pPr>
            <a:r>
              <a:rPr sz="2175" b="1">
                <a:solidFill>
                  <a:srgbClr val="1F7A4D"/>
                </a:solidFill>
              </a:rPr>
              <a:t>事件理解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50B11-F24A-457A-9190-06A108A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4"/>
                </a:solidFill>
              </a:defRPr>
            </a:pPr>
            <a:r>
              <a:rPr sz="1575" b="0">
                <a:solidFill>
                  <a:srgbClr val="111814"/>
                </a:solidFill>
              </a:rPr>
              <a:t>截图/片段 + 时间 + 区域 + 设备状态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F5A64-9226-4903-8579-033D689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EEF8"/>
          </a:solidFill>
          <a:ln xmlns:a="http://schemas.openxmlformats.org/drawingml/2006/main" w="9525">
            <a:solidFill>
              <a:srgbClr val="E6EE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6DA86-84E5-4FEF-B2C6-67F410F8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5E8F"/>
                </a:solidFill>
              </a:defRPr>
            </a:pPr>
            <a:r>
              <a:rPr sz="2175" b="1">
                <a:solidFill>
                  <a:srgbClr val="2F5E8F"/>
                </a:solidFill>
              </a:rPr>
              <a:t>误报降噪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15068-79A3-4D22-BE03-D3F0286D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24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4"/>
                </a:solidFill>
              </a:defRPr>
            </a:pPr>
            <a:r>
              <a:rPr sz="1575" b="0">
                <a:solidFill>
                  <a:srgbClr val="111814"/>
                </a:solidFill>
              </a:rPr>
              <a:t>雨水、反光、昆虫、普通经过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B1164-FE8D-46AA-8D00-37991CD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E8E6"/>
          </a:solidFill>
          <a:ln xmlns:a="http://schemas.openxmlformats.org/drawingml/2006/main" w="9525">
            <a:solidFill>
              <a:srgbClr val="FDE8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1FD54-3460-4BFA-B83F-44D0413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3261E"/>
                </a:solidFill>
              </a:defRPr>
            </a:pPr>
            <a:r>
              <a:rPr sz="2175" b="1">
                <a:solidFill>
                  <a:srgbClr val="B3261E"/>
                </a:solidFill>
              </a:rPr>
              <a:t>风险排序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E45C4-A864-41D3-BC8D-7ED5B2BC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4"/>
                </a:solidFill>
              </a:defRPr>
            </a:pPr>
            <a:r>
              <a:rPr sz="1575" b="0">
                <a:solidFill>
                  <a:srgbClr val="111814"/>
                </a:solidFill>
              </a:rPr>
              <a:t>营业外时间、敏感区域、停留时长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0AAF3-C87A-40CE-BDC7-D2848328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F3F6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2F7DB-2C3F-4C86-9345-EFF1FBC0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B"/>
                </a:solidFill>
              </a:defRPr>
            </a:pPr>
            <a:r>
              <a:rPr sz="2175" b="1">
                <a:solidFill>
                  <a:srgbClr val="17211B"/>
                </a:solidFill>
              </a:rPr>
              <a:t>交接生成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3F755-7508-4DEA-9140-C06C241C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4"/>
                </a:solidFill>
              </a:defRPr>
            </a:pPr>
            <a:r>
              <a:rPr sz="1575" b="0">
                <a:solidFill>
                  <a:srgbClr val="111814"/>
                </a:solidFill>
              </a:rPr>
              <a:t>证据、原因、建议动作、问答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78E8A-389B-4C74-B905-38EF52F1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F128A-8BB8-454A-B847-5484FBAA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9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5D16E-3C85-44D7-AD25-ECD3EFA1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4"/>
                </a:solidFill>
              </a:defRPr>
            </a:pPr>
            <a:r>
              <a:rPr sz="2100" b="1">
                <a:solidFill>
                  <a:srgbClr val="111814"/>
                </a:solidFill>
              </a:rPr>
              <a:t>输出不是“检测到人”，而是“这件事为什么重要、谁该处理、下一步是什么”。</a:t>
            </a:r>
          </a:p>
        </p:txBody>
      </p:sp>
    </p:spTree>
    <p:extLst>
      <p:ext uri="{BB962C8B-B14F-4D97-AF65-F5344CB8AC3E}">
        <p14:creationId xmlns:p14="http://schemas.microsoft.com/office/powerpoint/2010/main" val="18621188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26DE1-9999-4DE9-A38B-D40B6DC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4D"/>
                </a:solidFill>
              </a:defRPr>
            </a:pPr>
            <a:r>
              <a:rPr sz="1275" b="1">
                <a:solidFill>
                  <a:srgbClr val="1F7A4D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151FE-1AC8-42E9-A9D3-B11A67F4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Anker / eufy 智能安防黑客松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027A-CEA1-43EB-9A8D-2A63F57B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4"/>
                </a:solidFill>
              </a:defRPr>
            </a:pPr>
            <a:r>
              <a:rPr sz="3150" b="1">
                <a:solidFill>
                  <a:srgbClr val="111814"/>
                </a:solidFill>
              </a:rPr>
              <a:t>真实 SDK 和模拟事件流共用同一套交接流水线。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362C2-8966-4B4C-8108-76191A64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我们不把作品绑死在某个接口权限上；接入层可替换，AI 复核和交接逻辑保持一致。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5CC53-4D31-43C0-8FBC-FC189F2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1AC54-AB32-4D04-9846-5C1D0A07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41950-02CD-4908-9B76-C91D78D4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eufy / mock</a:t>
            </a:r>
          </a:p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5B49-4177-4F7B-9C92-1CF038ED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648A9-12F8-4974-B1EF-E9A74D9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Event</a:t>
            </a:r>
          </a:p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86F29-87C4-43F3-86D9-2F165572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72F5A-6DF2-4363-8451-9C53779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AI</a:t>
            </a:r>
          </a:p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B0653-8FB1-4B80-B37B-2EBF2CB9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B3401-F6E0-4A2A-BAC4-E50F76EF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Risk</a:t>
            </a:r>
          </a:p>
          <a:p xmlns:a="http://schemas.openxmlformats.org/drawingml/2006/main">
            <a:pPr algn="ctr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B1406-8422-4073-A024-1D20B480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28ED9-859D-47AD-B847-9915E35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Handoff</a:t>
            </a:r>
          </a:p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10B7E-51E3-49DC-9DE3-2684B2AC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8FBE9-AB2A-4A1E-B5AD-CEB207D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33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Q&amp;A +</a:t>
            </a:r>
          </a:p>
          <a:p xmlns:a="http://schemas.openxmlformats.org/drawingml/2006/main">
            <a:pPr algn="ctr">
              <a:defRPr sz="1575" b="1">
                <a:solidFill>
                  <a:srgbClr val="111814"/>
                </a:solidFill>
              </a:defRPr>
            </a:pPr>
            <a:r>
              <a:rPr sz="1575" b="1">
                <a:solidFill>
                  <a:srgbClr val="111814"/>
                </a:solidFill>
              </a:rPr>
              <a:t>Actions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14550" y="35909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D8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24300" y="35909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D8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34050" y="35909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D8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43800" y="35909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D8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353550" y="35909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D8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327C0-7B31-438E-BA03-4FC849E0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2895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79B71-A569-4B89-9CF7-E507BA12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4D"/>
                </a:solidFill>
              </a:defRPr>
            </a:pPr>
            <a:r>
              <a:rPr sz="1650" b="1">
                <a:solidFill>
                  <a:srgbClr val="1F7A4D"/>
                </a:solidFill>
              </a:rPr>
              <a:t>SDK 可用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2679F-7497-4576-B98E-4A2D277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接真实 eufy 事件、截图或短视频。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1B464-7F38-441B-A279-BD1D96D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95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F65AD-BAD9-4F30-84BD-EEA7A1D5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53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8F"/>
                </a:solidFill>
              </a:defRPr>
            </a:pPr>
            <a:r>
              <a:rPr sz="1650" b="1">
                <a:solidFill>
                  <a:srgbClr val="2F5E8F"/>
                </a:solidFill>
              </a:rPr>
              <a:t>无 SDK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4054F-6C18-4924-B860-A8CA97D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720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模拟事件流保证现场稳定闭环。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F0683-FC07-47DC-81A1-2FAA8059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2895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748EA0-F229-4E90-B8CF-F027D839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53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261E"/>
                </a:solidFill>
              </a:defRPr>
            </a:pPr>
            <a:r>
              <a:rPr sz="1650" b="1">
                <a:solidFill>
                  <a:srgbClr val="B3261E"/>
                </a:solidFill>
              </a:rPr>
              <a:t>边界清楚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BCFDA-A404-4834-9DB4-FB4D9B13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不承诺已接入官方 SDK。</a:t>
            </a:r>
          </a:p>
        </p:txBody>
      </p:sp>
    </p:spTree>
    <p:extLst>
      <p:ext uri="{BB962C8B-B14F-4D97-AF65-F5344CB8AC3E}">
        <p14:creationId xmlns:p14="http://schemas.microsoft.com/office/powerpoint/2010/main" val="16994416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86322-2DED-444F-A041-192B9163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4D"/>
                </a:solidFill>
              </a:defRPr>
            </a:pPr>
            <a:r>
              <a:rPr sz="1275" b="1">
                <a:solidFill>
                  <a:srgbClr val="1F7A4D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00F69-3440-4640-935D-A57D4CDB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Anker / eufy 智能安防黑客松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59BD4-9720-4D56-BB6E-61DAB010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4"/>
                </a:solidFill>
              </a:defRPr>
            </a:pPr>
            <a:r>
              <a:rPr sz="3150" b="1">
                <a:solidFill>
                  <a:srgbClr val="111814"/>
                </a:solidFill>
              </a:rPr>
              <a:t>这是 eufy 摄像头套餐的 AI 服务层。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C0B84-FC17-482B-A596-8CAA5349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SentryFlow 不替代 eufy 硬件，而是把摄像头事件升级成用户每天能收到的交接体验。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8B90B-00C6-4C03-A2DB-0D05485D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E977D-C08E-4624-99AB-8A3399B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543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A7E61-718B-4263-9952-C21F3EA2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运动事件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9672F-B423-49B3-9BDA-1035EE4F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把 motion alerts 变成可复核事件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005C0-B581-49F9-B1DE-8954327A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3543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F310A-7702-4CFA-9650-1A48B48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夜视与本地存储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545CD-A963-45AA-9005-101F5488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保留证据，减少无效翻看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76A05-7DE9-4B33-B068-B95D294B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543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19E42-01AB-4B9F-B594-814B3B1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HomeBase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C8DC1-5B6F-4EC2-8DD1-4D378E83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适合承载本地复核和隐私策略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E8A7F-4EDE-4186-8CDC-69251AD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33850"/>
            <a:ext cx="3543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22315-C00F-46CE-9EDE-2D738905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eufy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39C9B-B992-4333-A358-31906A65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29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2"/>
                </a:solidFill>
              </a:defRPr>
            </a:pPr>
            <a:r>
              <a:rPr sz="1350" b="0">
                <a:solidFill>
                  <a:srgbClr val="5E6962"/>
                </a:solidFill>
              </a:rPr>
              <a:t>晨间交接可以成为自然入口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52150-6644-488B-86F2-97B3C7F3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581150" cy="20764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7211B"/>
          </a:solidFill>
          <a:ln xmlns:a="http://schemas.openxmlformats.org/drawingml/2006/main" w="9525">
            <a:solidFill>
              <a:srgbClr val="17211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39975-3B54-4C7C-966B-B58CBF3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009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会报警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-&gt;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会交接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471C7-03F0-4895-91A2-4A7E274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962"/>
                </a:solidFill>
              </a:defRPr>
            </a:pPr>
            <a:r>
              <a:rPr sz="1800" b="1">
                <a:solidFill>
                  <a:srgbClr val="5E6962"/>
                </a:solidFill>
              </a:rPr>
              <a:t>不做重型 CCTV 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EC28D-115B-4574-A460-D38ED686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4"/>
                </a:solidFill>
              </a:defRPr>
            </a:pPr>
            <a:r>
              <a:rPr sz="1800" b="1">
                <a:solidFill>
                  <a:srgbClr val="111814"/>
                </a:solidFill>
              </a:rPr>
              <a:t>只做 eufy 用户能理解、能执行、能闭环的轻量服务。</a:t>
            </a:r>
          </a:p>
        </p:txBody>
      </p:sp>
    </p:spTree>
    <p:extLst>
      <p:ext uri="{BB962C8B-B14F-4D97-AF65-F5344CB8AC3E}">
        <p14:creationId xmlns:p14="http://schemas.microsoft.com/office/powerpoint/2010/main" val="5595376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152E3-6588-43DB-B83C-7A874869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4D"/>
                </a:solidFill>
              </a:defRPr>
            </a:pPr>
            <a:r>
              <a:rPr sz="1275" b="1">
                <a:solidFill>
                  <a:srgbClr val="1F7A4D"/>
                </a:solidFill>
              </a:rPr>
              <a:t>SentryFlow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D534F-5FA0-4A23-96E9-9EE4718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962"/>
                </a:solidFill>
              </a:defRPr>
            </a:pPr>
            <a:r>
              <a:rPr sz="1125" b="0">
                <a:solidFill>
                  <a:srgbClr val="5E6962"/>
                </a:solidFill>
              </a:rPr>
              <a:t>Anker / eufy 智能安防黑客松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85492-EC00-4975-83D2-D9F4DA0F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4"/>
                </a:solidFill>
              </a:defRPr>
            </a:pPr>
            <a:r>
              <a:rPr sz="3150" b="1">
                <a:solidFill>
                  <a:srgbClr val="111814"/>
                </a:solidFill>
              </a:rPr>
              <a:t>24 小时内先交付稳定闭环，赛后接入真实设备。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50149-FA38-4319-BEB2-5AA284FA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62"/>
                </a:solidFill>
              </a:defRPr>
            </a:pPr>
            <a:r>
              <a:rPr sz="1500" b="0">
                <a:solidFill>
                  <a:srgbClr val="5E6962"/>
                </a:solidFill>
              </a:rPr>
              <a:t>现场先证明产品链路成立；设备权限具备后，再把同一条流水线接到真实 eufy 事件源。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ED3F5-1B74-4B72-A950-DC26B6A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240A5-2D67-4617-9F86-508EBBA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47675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DBE31-67AB-4E52-B155-4B5FAF0E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7A4D"/>
                </a:solidFill>
              </a:defRPr>
            </a:pPr>
            <a:r>
              <a:rPr sz="2175" b="1">
                <a:solidFill>
                  <a:srgbClr val="1F7A4D"/>
                </a:solidFill>
              </a:rPr>
              <a:t>现场演示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DA43E-9822-4743-9F2A-3B54D643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369CB-B838-420E-91A4-B744857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打开原型并播放昨晚事件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E4A21-6FDB-4F2C-8100-77882E10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998D7-D2AA-41EE-9FA2-0303679F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生成 47 -&gt; 1 晨间摘要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57092-A877-4D8D-900F-8722569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937FC-A741-4BB0-8AC2-25A0FEA8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询问“今天先处理哪里”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C20F0-C501-4165-A56D-B0EC99B4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F5CC2-AF69-4A2E-A05A-269F4444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点击通知店长复核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336BD-88BA-47C3-9DC4-D31D8C4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47675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C68DF-B213-483F-B6C8-7C311343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5E8F"/>
                </a:solidFill>
              </a:defRPr>
            </a:pPr>
            <a:r>
              <a:rPr sz="2175" b="1">
                <a:solidFill>
                  <a:srgbClr val="2F5E8F"/>
                </a:solidFill>
              </a:rPr>
              <a:t>赛后接入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AD9C1-FF5D-4810-9654-81391A33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8F"/>
                </a:solidFill>
              </a:defRPr>
            </a:pPr>
            <a:r>
              <a:rPr sz="1350" b="1">
                <a:solidFill>
                  <a:srgbClr val="2F5E8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840D4-9D87-4C68-84DC-F6E7CE4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确认 SDK/API 能力边界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17DAB-2DAB-47FD-8D47-7BEEF72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8F"/>
                </a:solidFill>
              </a:defRPr>
            </a:pPr>
            <a:r>
              <a:rPr sz="1350" b="1">
                <a:solidFill>
                  <a:srgbClr val="2F5E8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020E9-2232-4586-B184-28CA2693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接入真实事件和证据素材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75E27-9924-474F-9FEA-01905421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8F"/>
                </a:solidFill>
              </a:defRPr>
            </a:pPr>
            <a:r>
              <a:rPr sz="1350" b="1">
                <a:solidFill>
                  <a:srgbClr val="2F5E8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9F82E-B366-4902-8D26-C7F40F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进入 eufy App 的 Morning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25C72-1E82-4509-BFF2-56B36A8B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48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8F"/>
                </a:solidFill>
              </a:defRPr>
            </a:pPr>
            <a:r>
              <a:rPr sz="1350" b="1">
                <a:solidFill>
                  <a:srgbClr val="2F5E8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BED5A-2015-414E-A529-5EB0405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14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14"/>
                </a:solidFill>
              </a:defRPr>
            </a:pPr>
            <a:r>
              <a:rPr sz="1425" b="0">
                <a:solidFill>
                  <a:srgbClr val="111814"/>
                </a:solidFill>
              </a:rPr>
              <a:t>扩展多摄像头事件合并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8F12E-DDD2-4FA3-82A2-916292E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14"/>
                </a:solidFill>
              </a:defRPr>
            </a:pPr>
            <a:r>
              <a:rPr sz="2625" b="1">
                <a:solidFill>
                  <a:srgbClr val="111814"/>
                </a:solidFill>
              </a:rPr>
              <a:t>47 条告警，最后只留下 1 个清楚动作。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C9E05-FCFD-4DCD-BA2A-0ADF4BE9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F7A4D"/>
                </a:solidFill>
              </a:defRPr>
            </a:pPr>
            <a:r>
              <a:rPr sz="1650" b="1">
                <a:solidFill>
                  <a:srgbClr val="1F7A4D"/>
                </a:solidFill>
              </a:rPr>
              <a:t>47 alerts -&gt; 1 clear action</a:t>
            </a:r>
          </a:p>
        </p:txBody>
      </p:sp>
    </p:spTree>
    <p:extLst>
      <p:ext uri="{BB962C8B-B14F-4D97-AF65-F5344CB8AC3E}">
        <p14:creationId xmlns:p14="http://schemas.microsoft.com/office/powerpoint/2010/main" val="332710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2026-09-18T09:23:11.9810000Z</dcterms:created>
  <dcterms:modified xsi:type="dcterms:W3CDTF">2026-09-18T09:23:11.9810000Z</dcterms:modified>
</coreProperties>
</file>